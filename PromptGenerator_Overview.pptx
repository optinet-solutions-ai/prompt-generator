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75A"/>
                </a:solidFill>
                <a:latin typeface="Calibri"/>
              </a:rPr>
              <a:t>PROMPT GENERATOR  ·  MULTI-BRAND AI IMAGE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716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B2A33"/>
                </a:solidFill>
                <a:latin typeface="Calibri"/>
              </a:rPr>
              <a:t>Multi-Brand Prompt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5B637A"/>
                </a:solidFill>
                <a:latin typeface="Calibri"/>
              </a:rPr>
              <a:t>Turns a brand and a reference image into a polished, on-brand AI image prompt — then sends it straight to ChatGPT or Gemini to generate the picture.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5196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251960"/>
            <a:ext cx="91440" cy="169164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44348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6175A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522122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33"/>
                </a:solidFill>
                <a:latin typeface="Calibri"/>
              </a:rPr>
              <a:t>Casino brands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55321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Roosterbet · SpinJo · FortunePlay +6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425196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4251960"/>
            <a:ext cx="91440" cy="169164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44348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6175A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22122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33"/>
                </a:solidFill>
                <a:latin typeface="Calibri"/>
              </a:rPr>
              <a:t>Ways to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5321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Reference · Assistant · Blend · Wizard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425196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4251960"/>
            <a:ext cx="91440" cy="169164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44348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6175A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522122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33"/>
                </a:solidFill>
                <a:latin typeface="Calibri"/>
              </a:rPr>
              <a:t>AI image engines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55321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ChatGPT (gpt-image-1) +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08792" y="5943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>
                <a:solidFill>
                  <a:srgbClr val="C9CEE8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B2A33"/>
                </a:solidFill>
                <a:latin typeface="Calibri"/>
              </a:rPr>
              <a:t>From blank page to on-brand image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37A"/>
                </a:solidFill>
                <a:latin typeface="Calibri"/>
              </a:rPr>
              <a:t>Replacing guesswork and prompt-copying with a guided, brand-aware generator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75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48920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37A"/>
                </a:solidFill>
                <a:latin typeface="Calibri"/>
              </a:rPr>
              <a:t>Designers used to write image prompts by hand — copying an old prompt, swapping a few words, and hoping the result still looked like the brand.
This app does it for them. Pick a brand, pick a reference image you like, tweak a few settings, and it writes a fresh, detailed prompt that stays true to that brand's look — ready to paste into ChatGPT or Gemini.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148072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175A"/>
                </a:solidFill>
                <a:latin typeface="Calibri"/>
              </a:rPr>
              <a:t>Who it's for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10896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1089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09067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33"/>
                </a:solidFill>
                <a:latin typeface="Calibri"/>
              </a:rPr>
              <a:t>Marketing &amp;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410712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B637A"/>
                </a:solidFill>
                <a:latin typeface="Calibri"/>
              </a:rPr>
              <a:t>Spin up promo banners and social art for any brand without writing prompts from scratch.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9651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09651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078224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33"/>
                </a:solidFill>
                <a:latin typeface="Calibri"/>
              </a:rPr>
              <a:t>Brand 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398264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B637A"/>
                </a:solidFill>
                <a:latin typeface="Calibri"/>
              </a:rPr>
              <a:t>Every prompt is grounded in that brand's own reference library, so output stays on-brand.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508406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508406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5065776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33"/>
                </a:solidFill>
                <a:latin typeface="Calibri"/>
              </a:rPr>
              <a:t>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385816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B637A"/>
                </a:solidFill>
                <a:latin typeface="Calibri"/>
              </a:rPr>
              <a:t>Seconds from idea to a copy-paste prompt — and one click to the actual image.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5943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>
                <a:solidFill>
                  <a:srgbClr val="C9CEE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B2A33"/>
                </a:solidFill>
                <a:latin typeface="Calibri"/>
              </a:rPr>
              <a:t>Seven simple steps, start to finish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37A"/>
                </a:solidFill>
                <a:latin typeface="Calibri"/>
              </a:rPr>
              <a:t>The whole flow lives on one screen — no spreadsheets, no copy-pasting old prompts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569463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6946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36391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33"/>
                </a:solidFill>
                <a:latin typeface="Calibri"/>
              </a:rPr>
              <a:t>Pick a 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410711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5B637A"/>
                </a:solidFill>
                <a:latin typeface="Calibri"/>
              </a:rPr>
              <a:t>Choose from 9 casino brands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233172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94176" y="2569463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256946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136391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33"/>
                </a:solidFill>
                <a:latin typeface="Calibri"/>
              </a:rPr>
              <a:t>Pick a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3410711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5B637A"/>
                </a:solidFill>
                <a:latin typeface="Calibri"/>
              </a:rPr>
              <a:t>Load a template image you like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33172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2569463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56946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36391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33"/>
                </a:solidFill>
                <a:latin typeface="Calibri"/>
              </a:rPr>
              <a:t>See its recipe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10711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5B637A"/>
                </a:solidFill>
                <a:latin typeface="Calibri"/>
              </a:rPr>
              <a:t>App shows the reference's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34272" y="233172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90303" y="2569463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0303" y="256946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3" y="3136391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33"/>
                </a:solidFill>
                <a:latin typeface="Calibri"/>
              </a:rPr>
              <a:t>Adjust settings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3" y="3410711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5B637A"/>
                </a:solidFill>
                <a:latin typeface="Calibri"/>
              </a:rPr>
              <a:t>Position, ratio, theme, description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39112" y="402336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95144" y="42611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95144" y="426110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95144" y="48280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33"/>
                </a:solidFill>
                <a:latin typeface="Calibri"/>
              </a:rPr>
              <a:t>Regenerate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95144" y="510235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5B637A"/>
                </a:solidFill>
                <a:latin typeface="Calibri"/>
              </a:rPr>
              <a:t>OpenAI writes a fresh on-brand prompt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37176" y="402336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93208" y="42611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93208" y="426110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3208" y="48280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33"/>
                </a:solidFill>
                <a:latin typeface="Calibri"/>
              </a:rPr>
              <a:t>Generate images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3208" y="510235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5B637A"/>
                </a:solidFill>
                <a:latin typeface="Calibri"/>
              </a:rPr>
              <a:t>Send to ChatGPT or Gemini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402336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91271" y="42611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91271" y="426110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91271" y="48280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33"/>
                </a:solidFill>
                <a:latin typeface="Calibri"/>
              </a:rPr>
              <a:t>Save &amp; organize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1" y="510235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5B637A"/>
                </a:solidFill>
                <a:latin typeface="Calibri"/>
              </a:rPr>
              <a:t>Heart favorites, browse the library</a:t>
            </a:r>
          </a:p>
        </p:txBody>
      </p:sp>
      <p:sp>
        <p:nvSpPr>
          <p:cNvPr id="42" name="Chevron 41"/>
          <p:cNvSpPr/>
          <p:nvPr/>
        </p:nvSpPr>
        <p:spPr>
          <a:xfrm>
            <a:off x="3291839" y="2926080"/>
            <a:ext cx="146304" cy="237744"/>
          </a:xfrm>
          <a:prstGeom prst="chevron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evron 42"/>
          <p:cNvSpPr/>
          <p:nvPr/>
        </p:nvSpPr>
        <p:spPr>
          <a:xfrm>
            <a:off x="6089904" y="2926080"/>
            <a:ext cx="146304" cy="237744"/>
          </a:xfrm>
          <a:prstGeom prst="chevron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evron 43"/>
          <p:cNvSpPr/>
          <p:nvPr/>
        </p:nvSpPr>
        <p:spPr>
          <a:xfrm>
            <a:off x="8887968" y="2926080"/>
            <a:ext cx="146304" cy="237744"/>
          </a:xfrm>
          <a:prstGeom prst="chevron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evron 44"/>
          <p:cNvSpPr/>
          <p:nvPr/>
        </p:nvSpPr>
        <p:spPr>
          <a:xfrm>
            <a:off x="4690872" y="4617720"/>
            <a:ext cx="146304" cy="237744"/>
          </a:xfrm>
          <a:prstGeom prst="chevron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vron 45"/>
          <p:cNvSpPr/>
          <p:nvPr/>
        </p:nvSpPr>
        <p:spPr>
          <a:xfrm>
            <a:off x="7488936" y="4617720"/>
            <a:ext cx="146304" cy="237744"/>
          </a:xfrm>
          <a:prstGeom prst="chevron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08792" y="5943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>
                <a:solidFill>
                  <a:srgbClr val="C9CEE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THE MAIN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B2A33"/>
                </a:solidFill>
                <a:latin typeface="Calibri"/>
              </a:rPr>
              <a:t>Everything happens on one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37A"/>
                </a:solidFill>
                <a:latin typeface="Calibri"/>
              </a:rPr>
              <a:t>Choose, tweak, generate — the app guides each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25712" y="548640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E4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25712" y="576072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5B637A"/>
                </a:solidFill>
                <a:latin typeface="Calibri"/>
              </a:rPr>
              <a:t>UI WALKTHROUGH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49424"/>
            <a:ext cx="146304" cy="146304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94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A33"/>
                </a:solidFill>
                <a:latin typeface="Calibri"/>
              </a:rPr>
              <a:t>Brand &amp;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87168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>
                <a:solidFill>
                  <a:srgbClr val="5B637A"/>
                </a:solidFill>
                <a:latin typeface="Calibri"/>
              </a:rPr>
              <a:t>Two dropdowns at the top — brand first, then a reference prompt loaded live from Supabase.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08960"/>
            <a:ext cx="146304" cy="146304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0540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A33"/>
                </a:solidFill>
                <a:latin typeface="Calibri"/>
              </a:rPr>
              <a:t>Reference Prompt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346703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>
                <a:solidFill>
                  <a:srgbClr val="5B637A"/>
                </a:solidFill>
                <a:latin typeface="Calibri"/>
              </a:rPr>
              <a:t>An expandable panel reveals the reference's recipe: subject, lighting, mood, background and 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68495"/>
            <a:ext cx="146304" cy="146304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A33"/>
                </a:solidFill>
                <a:latin typeface="Calibri"/>
              </a:rPr>
              <a:t>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2062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>
                <a:solidFill>
                  <a:srgbClr val="5B637A"/>
                </a:solidFill>
                <a:latin typeface="Calibri"/>
              </a:rPr>
              <a:t>Subject position (left/center/right), aspect ratio, plus a theme and description in plain words.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28031"/>
            <a:ext cx="146304" cy="146304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77316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A33"/>
                </a:solidFill>
                <a:latin typeface="Calibri"/>
              </a:rPr>
              <a:t>Regenerate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065775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>
                <a:solidFill>
                  <a:srgbClr val="5B637A"/>
                </a:solidFill>
                <a:latin typeface="Calibri"/>
              </a:rPr>
              <a:t>One button asks OpenAI to rewrite a fresh, on-brand prompt from your choices.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687567"/>
            <a:ext cx="146304" cy="146304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632703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A33"/>
                </a:solidFill>
                <a:latin typeface="Calibri"/>
              </a:rPr>
              <a:t>Action buttons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5925311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>
                <a:solidFill>
                  <a:srgbClr val="5B637A"/>
                </a:solidFill>
                <a:latin typeface="Calibri"/>
              </a:rPr>
              <a:t>Copy, refresh, save, favorite — then ChatGPT, Gemini, or Generate Both to make the image.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1874519"/>
            <a:ext cx="4983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12280" y="2194560"/>
            <a:ext cx="4434840" cy="502920"/>
          </a:xfrm>
          <a:prstGeom prst="roundRect">
            <a:avLst>
              <a:gd name="adj" fmla="val 14000"/>
            </a:avLst>
          </a:prstGeom>
          <a:solidFill>
            <a:srgbClr val="E4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2194560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Brand:  SpinJo   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12280" y="2834639"/>
            <a:ext cx="4434840" cy="502920"/>
          </a:xfrm>
          <a:prstGeom prst="roundRect">
            <a:avLst>
              <a:gd name="adj" fmla="val 14000"/>
            </a:avLst>
          </a:prstGeom>
          <a:solidFill>
            <a:srgbClr val="E4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2834639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Reference:  Neon Astronaut   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3520439"/>
            <a:ext cx="4434840" cy="822960"/>
          </a:xfrm>
          <a:prstGeom prst="roundRect">
            <a:avLst>
              <a:gd name="adj" fmla="val 10000"/>
            </a:avLst>
          </a:prstGeom>
          <a:solidFill>
            <a:srgbClr val="EE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3630168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2A33"/>
                </a:solidFill>
                <a:latin typeface="Calibri"/>
              </a:rPr>
              <a:t>Reference Prompt Data  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904487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37A"/>
                </a:solidFill>
                <a:latin typeface="Calibri"/>
              </a:rPr>
              <a:t>subject · lighting · mood · background 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12280" y="4480560"/>
            <a:ext cx="2194560" cy="777240"/>
          </a:xfrm>
          <a:prstGeom prst="roundRect">
            <a:avLst>
              <a:gd name="adj" fmla="val 10000"/>
            </a:avLst>
          </a:prstGeom>
          <a:solidFill>
            <a:srgbClr val="EE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4572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2A33"/>
                </a:solidFill>
                <a:latin typeface="Calibri"/>
              </a:rPr>
              <a:t>Position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0" y="4937760"/>
            <a:ext cx="1920240" cy="109728"/>
          </a:xfrm>
          <a:prstGeom prst="roundRect">
            <a:avLst>
              <a:gd name="adj" fmla="val 50000"/>
            </a:avLst>
          </a:prstGeom>
          <a:solidFill>
            <a:srgbClr val="D3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0" y="487375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44000" y="4480560"/>
            <a:ext cx="2103120" cy="777240"/>
          </a:xfrm>
          <a:prstGeom prst="roundRect">
            <a:avLst>
              <a:gd name="adj" fmla="val 10000"/>
            </a:avLst>
          </a:prstGeom>
          <a:solidFill>
            <a:srgbClr val="EE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45720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2A33"/>
                </a:solidFill>
                <a:latin typeface="Calibri"/>
              </a:rPr>
              <a:t>Aspect ratio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48737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37A"/>
                </a:solidFill>
                <a:latin typeface="Calibri"/>
              </a:rPr>
              <a:t>▢ Portrait  ▢ Square  ▣ Wide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12280" y="5440679"/>
            <a:ext cx="4434840" cy="502920"/>
          </a:xfrm>
          <a:prstGeom prst="roundRect">
            <a:avLst>
              <a:gd name="adj" fmla="val 20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5440679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↻  Regenerate Prompt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12280" y="6080759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6080759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ChatGPT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85048" y="6080759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85048" y="6080759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Gemini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57816" y="6080759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57816" y="6080759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Both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08792" y="5943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>
                <a:solidFill>
                  <a:srgbClr val="C9CEE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WAYS TO 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B2A33"/>
                </a:solidFill>
                <a:latin typeface="Calibri"/>
              </a:rPr>
              <a:t>Four ways to build a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37A"/>
                </a:solidFill>
                <a:latin typeface="Calibri"/>
              </a:rPr>
              <a:t>Same brand-aware engine, four starting points depending on how much guidance you want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6517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2542032"/>
            <a:ext cx="384048" cy="9144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72491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33"/>
                </a:solidFill>
                <a:latin typeface="Calibri"/>
              </a:rPr>
              <a:t>Reference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1012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75A"/>
                </a:solidFill>
                <a:latin typeface="Calibri"/>
              </a:rPr>
              <a:t>Start from an existing brand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931920"/>
            <a:ext cx="2194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Pick a reference prompt from the library and tweak position, ratio, theme and description. The classic 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2286000"/>
            <a:ext cx="26517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94176" y="2542032"/>
            <a:ext cx="384048" cy="9144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272491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33"/>
                </a:solidFill>
                <a:latin typeface="Calibri"/>
              </a:rPr>
              <a:t>AI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31012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F6FB5"/>
                </a:solidFill>
                <a:latin typeface="Calibri"/>
              </a:rPr>
              <a:t>Describe an idea in plain 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3931920"/>
            <a:ext cx="2194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Give it a task and a description; it suggests concepts, then writes and refines a full prompt for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286000"/>
            <a:ext cx="26517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542032"/>
            <a:ext cx="384048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72491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33"/>
                </a:solidFill>
                <a:latin typeface="Calibri"/>
              </a:rPr>
              <a:t>Blend Two Prompts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1012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7D32"/>
                </a:solidFill>
                <a:latin typeface="Calibri"/>
              </a:rPr>
              <a:t>Mix references into something new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31920"/>
            <a:ext cx="2194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Combine several reference prompts into one fresh, unique prompt that still reads unmistakably as the brand.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34272" y="2286000"/>
            <a:ext cx="26517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90303" y="2542032"/>
            <a:ext cx="384048" cy="91440"/>
          </a:xfrm>
          <a:prstGeom prst="rect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0303" y="272491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33"/>
                </a:solidFill>
                <a:latin typeface="Calibri"/>
              </a:rPr>
              <a:t>Sports Banner Wizard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3" y="331012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A93A8"/>
                </a:solidFill>
                <a:latin typeface="Calibri"/>
              </a:rPr>
              <a:t>A guided 5-step 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3" y="3931920"/>
            <a:ext cx="2194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Sport, scene, subject position and background — a step-by-step wizard for sports-themed banners.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08792" y="5943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>
                <a:solidFill>
                  <a:srgbClr val="C9CEE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REFERENCE PROMPT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B2A33"/>
                </a:solidFill>
                <a:latin typeface="Calibri"/>
              </a:rPr>
              <a:t>Every reference is broken into a recipe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37A"/>
                </a:solidFill>
                <a:latin typeface="Calibri"/>
              </a:rPr>
              <a:t>Stored in Supabase and shown in the expandable panel — this is what keeps output on-brand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87752"/>
            <a:ext cx="2651760" cy="219456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048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Format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90087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Frame &amp; composition, e.g. wide cinematic 16:9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23317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8144" y="23317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8144" y="2587752"/>
            <a:ext cx="2651760" cy="219456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048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Primary Object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2990087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The hero element the scene is built around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3317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8" y="23317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2587752"/>
            <a:ext cx="2651760" cy="219456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4048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Subject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90087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The character or figure and how it's posed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34272" y="23317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34272" y="23317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4272" y="2587752"/>
            <a:ext cx="2651760" cy="219456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3" y="24048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Lighting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3" y="2990087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Light sources, colour and direction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270248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270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526280"/>
            <a:ext cx="2651760" cy="21945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3434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Mood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928616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The feeling — futuristic, festive, tense…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38144" y="4270248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38144" y="4270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38144" y="4526280"/>
            <a:ext cx="2651760" cy="21945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94176" y="43434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94176" y="4928616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The setting behind the subject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6208" y="4270248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36208" y="4270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36208" y="4526280"/>
            <a:ext cx="2651760" cy="219456"/>
          </a:xfrm>
          <a:prstGeom prst="rect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3434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Positive Prompt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928616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The full art-direction the image engine reads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34272" y="4270248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34272" y="4270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34272" y="4526280"/>
            <a:ext cx="2651760" cy="219456"/>
          </a:xfrm>
          <a:prstGeom prst="rect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90303" y="43434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Negative Prompt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3" y="4928616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What to exclude — text, logos, watermarks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75A"/>
                </a:solidFill>
                <a:latin typeface="Calibri"/>
              </a:rPr>
              <a:t>Positive &amp; Negative prompts feed the image engine directly — everything else guides the rewrite.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08792" y="5943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>
                <a:solidFill>
                  <a:srgbClr val="C9CEE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B2A33"/>
                </a:solidFill>
                <a:latin typeface="Calibri"/>
              </a:rPr>
              <a:t>Describe it once, let the assistant do the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37A"/>
                </a:solidFill>
                <a:latin typeface="Calibri"/>
              </a:rPr>
              <a:t>For when you don't have a reference in mind — just an 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892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892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5292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A33"/>
                </a:solidFill>
                <a:latin typeface="Calibri"/>
              </a:rPr>
              <a:t>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70332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37A"/>
                </a:solidFill>
                <a:latin typeface="Calibri"/>
              </a:rPr>
              <a:t>Give the assistant a brand, a task and a short description. It proposes several creative concepts to choose from.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1104" y="3072384"/>
            <a:ext cx="219456" cy="237744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9704" y="246888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9744" y="278892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744" y="278892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9864" y="285292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A33"/>
                </a:solidFill>
                <a:latin typeface="Calibri"/>
              </a:rP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6" y="370332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37A"/>
                </a:solidFill>
                <a:latin typeface="Calibri"/>
              </a:rPr>
              <a:t>Pick the concept you like and it writes a full, detailed prompt — grounded in the brand's visual identity.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7848" y="3072384"/>
            <a:ext cx="219456" cy="237744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56448" y="246888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76488" y="278892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278892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285292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A33"/>
                </a:solidFill>
                <a:latin typeface="Calibri"/>
              </a:rPr>
              <a:t>Refine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70332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37A"/>
                </a:solidFill>
                <a:latin typeface="Calibri"/>
              </a:rPr>
              <a:t>Not quite right? Ask for changes in plain language and it rewrites, keeping what worked.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120640"/>
            <a:ext cx="1054303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120640"/>
            <a:ext cx="109728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285232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6175A"/>
                </a:solidFill>
                <a:latin typeface="Calibri"/>
              </a:rPr>
              <a:t>Built-in cost tracking   Every prompt and image call is priced live (OpenAI + Gemini), with a daily/monthly spend view and a spend cap — so AI usage never surprises you.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08792" y="5943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>
                <a:solidFill>
                  <a:srgbClr val="C9CEE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IMAGE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B2A33"/>
                </a:solidFill>
                <a:latin typeface="Calibri"/>
              </a:rPr>
              <a:t>From prompt to picture, then polish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37A"/>
                </a:solidFill>
                <a:latin typeface="Calibri"/>
              </a:rPr>
              <a:t>One prompt, two engines, and tools to fix and extend the result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35387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496312"/>
            <a:ext cx="384048" cy="9144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79192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A33"/>
                </a:solidFill>
                <a:latin typeface="Calibri"/>
              </a:rPr>
              <a:t>ChatGPT — gpt-image-1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81528"/>
            <a:ext cx="30358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5B637A"/>
                </a:solidFill>
                <a:latin typeface="Calibri"/>
              </a:rPr>
              <a:t>OpenAI's image model, called directly from the app. Great for square and portrait 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240280"/>
            <a:ext cx="35387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2496312"/>
            <a:ext cx="384048" cy="9144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679192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A33"/>
                </a:solidFill>
                <a:latin typeface="Calibri"/>
              </a:rPr>
              <a:t>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081528"/>
            <a:ext cx="30358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5B637A"/>
                </a:solidFill>
                <a:latin typeface="Calibri"/>
              </a:rPr>
              <a:t>Google's image model — the preferred engine for wide 16:9 banners that gpt-image-1 struggles with.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240280"/>
            <a:ext cx="35387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2496312"/>
            <a:ext cx="384048" cy="9144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679192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A33"/>
                </a:solidFill>
                <a:latin typeface="Calibri"/>
              </a:rPr>
              <a:t>Generate Variations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081528"/>
            <a:ext cx="30358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5B637A"/>
                </a:solidFill>
                <a:latin typeface="Calibri"/>
              </a:rPr>
              <a:t>Make several takes of an image at once via the gpt-image-1 edit API — pick the best.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06240"/>
            <a:ext cx="35387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462272"/>
            <a:ext cx="384048" cy="9144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45152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A33"/>
                </a:solidFill>
                <a:latin typeface="Calibri"/>
              </a:rPr>
              <a:t>Edit 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47488"/>
            <a:ext cx="30358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5B637A"/>
                </a:solidFill>
                <a:latin typeface="Calibri"/>
              </a:rPr>
              <a:t>Refine an existing image (via GCP Cloud Run) without starting the prompt over.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4206240"/>
            <a:ext cx="35387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99432" y="4462272"/>
            <a:ext cx="384048" cy="9144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4645152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A33"/>
                </a:solidFill>
                <a:latin typeface="Calibri"/>
              </a:rPr>
              <a:t>Wide-banner extend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5047488"/>
            <a:ext cx="30358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5B637A"/>
                </a:solidFill>
                <a:latin typeface="Calibri"/>
              </a:rPr>
              <a:t>For 2:1 banners the real scene is mirror-extended into the side gaps — never cropped or blurred.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4206240"/>
            <a:ext cx="35387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84464" y="4462272"/>
            <a:ext cx="384048" cy="9144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4645152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A33"/>
                </a:solidFill>
                <a:latin typeface="Calibri"/>
              </a:rPr>
              <a:t>Save to Drive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5047488"/>
            <a:ext cx="30358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5B637A"/>
                </a:solidFill>
                <a:latin typeface="Calibri"/>
              </a:rPr>
              <a:t>Generated images are stored in Google Drive and cached in the browser for instant reload.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08792" y="5943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>
                <a:solidFill>
                  <a:srgbClr val="C9CEE8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B2A33"/>
                </a:solidFill>
                <a:latin typeface="Calibri"/>
              </a:rPr>
              <a:t>A simple frontend, thin API routes, trusted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37A"/>
                </a:solidFill>
                <a:latin typeface="Calibri"/>
              </a:rPr>
              <a:t>The React app displays and fires actions; all secrets and heavy lifting live in Vercel API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240280"/>
            <a:ext cx="7589520" cy="786384"/>
          </a:xfrm>
          <a:prstGeom prst="roundRect">
            <a:avLst>
              <a:gd name="adj" fmla="val 6000"/>
            </a:avLst>
          </a:prstGeom>
          <a:solidFill>
            <a:srgbClr val="CD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2240280"/>
            <a:ext cx="109728" cy="786384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59152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A33"/>
                </a:solidFill>
                <a:latin typeface="Calibri"/>
              </a:rPr>
              <a:t>Frontend  ·  What the user sees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97480"/>
            <a:ext cx="7040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5B637A"/>
                </a:solidFill>
                <a:latin typeface="Calibri"/>
              </a:rPr>
              <a:t>React + Vite SPA on Vercel — generator, assistant, image library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65192" y="3035808"/>
            <a:ext cx="219456" cy="237744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80160" y="3282696"/>
            <a:ext cx="7589520" cy="786384"/>
          </a:xfrm>
          <a:prstGeom prst="roundRect">
            <a:avLst>
              <a:gd name="adj" fmla="val 6000"/>
            </a:avLst>
          </a:prstGeom>
          <a:solidFill>
            <a:srgbClr val="1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0160" y="3282696"/>
            <a:ext cx="109728" cy="786384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401568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Vercel API routes  ·  The brain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39896"/>
            <a:ext cx="7040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FFFFFF"/>
                </a:solidFill>
                <a:latin typeface="Calibri"/>
              </a:rPr>
              <a:t>OpenAI calls, prompt building, GCP auth, Supabase &amp; Drive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65192" y="4078224"/>
            <a:ext cx="219456" cy="237744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80160" y="4325112"/>
            <a:ext cx="758952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80160" y="4325112"/>
            <a:ext cx="109728" cy="7863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443983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A33"/>
                </a:solidFill>
                <a:latin typeface="Calibri"/>
              </a:rPr>
              <a:t>AI + image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82312"/>
            <a:ext cx="7040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5B637A"/>
                </a:solidFill>
                <a:latin typeface="Calibri"/>
              </a:rPr>
              <a:t>OpenAI (prompts + gpt-image-1)  ·  Gemini  ·  GCP Cloud Run (edit &amp; save)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65192" y="5120640"/>
            <a:ext cx="219456" cy="237744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80160" y="5367527"/>
            <a:ext cx="7589520" cy="786384"/>
          </a:xfrm>
          <a:prstGeom prst="roundRect">
            <a:avLst>
              <a:gd name="adj" fmla="val 6000"/>
            </a:avLst>
          </a:prstGeom>
          <a:solidFill>
            <a:srgbClr val="E4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80160" y="5367527"/>
            <a:ext cx="109728" cy="786384"/>
          </a:xfrm>
          <a:prstGeom prst="rect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5486399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A33"/>
                </a:solidFill>
                <a:latin typeface="Calibri"/>
              </a:rPr>
              <a:t>Data &amp;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824727"/>
            <a:ext cx="7040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5B637A"/>
                </a:solidFill>
                <a:latin typeface="Calibri"/>
              </a:rPr>
              <a:t>Supabase (prompts + favorites)  ·  Google Drive (images)  ·  localStorage cache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240280"/>
            <a:ext cx="82296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22402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2A33"/>
                </a:solidFill>
                <a:latin typeface="Calibri"/>
              </a:rPr>
              <a:t>Frontend stays simple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2551176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5B637A"/>
                </a:solidFill>
                <a:latin typeface="Calibri"/>
              </a:rPr>
              <a:t>Displays data and fires actions — no API keys, no business logic.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209544"/>
            <a:ext cx="82296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0032" y="320954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2A33"/>
                </a:solidFill>
                <a:latin typeface="Calibri"/>
              </a:rPr>
              <a:t>API holds the secrets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352044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5B637A"/>
                </a:solidFill>
                <a:latin typeface="Calibri"/>
              </a:rPr>
              <a:t>OpenAI/GCP keys live only in Vercel env vars, never in the browser.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4178808"/>
            <a:ext cx="82296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0032" y="41788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2A33"/>
                </a:solidFill>
                <a:latin typeface="Calibri"/>
              </a:rPr>
              <a:t>Two image paths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032" y="4489704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5B637A"/>
                </a:solidFill>
                <a:latin typeface="Calibri"/>
              </a:rPr>
              <a:t>Variations use OpenAI directly; edits &amp; saving go through GCP Cloud Run.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5148072"/>
            <a:ext cx="82296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0032" y="514807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2A33"/>
                </a:solidFill>
                <a:latin typeface="Calibri"/>
              </a:rPr>
              <a:t>Drive is source of truth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0032" y="545896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5B637A"/>
                </a:solidFill>
                <a:latin typeface="Calibri"/>
              </a:rPr>
              <a:t>The library syncs from a shared Drive folder; localStorage is just a cache.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08792" y="5943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>
                <a:solidFill>
                  <a:srgbClr val="C9CEE8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DATA &amp;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B2A33"/>
                </a:solidFill>
                <a:latin typeface="Calibri"/>
              </a:rPr>
              <a:t>Where everything lives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37A"/>
                </a:solidFill>
                <a:latin typeface="Calibri"/>
              </a:rPr>
              <a:t>Supabase is the database; Google Drive holds the images; the browser keeps a fast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26517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87752"/>
            <a:ext cx="2651760" cy="45720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Reference Prompts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4261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Calibri"/>
              </a:rPr>
              <a:t>Supabase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1729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prompt_name / brand_name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6301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format_layout / subject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0873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lighting / mood / 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5445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positive_prompt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0017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negative_prompt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38144" y="2331720"/>
            <a:ext cx="26517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8144" y="2331720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38144" y="2587752"/>
            <a:ext cx="2651760" cy="4572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4176" y="23865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liked_images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264261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Calibri"/>
              </a:rPr>
              <a:t>Favorites (Supabase)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31729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image the user hearted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36301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brand + source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40873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Drive URL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45445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separate from references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2331720"/>
            <a:ext cx="26517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36208" y="2331720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2587752"/>
            <a:ext cx="265176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3865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Google Drive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64261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Calibri"/>
              </a:rPr>
              <a:t>Image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1729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every generated image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6301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shared folder = source of truth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0873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works across users &amp; devices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5445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survives domain changes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34272" y="2331720"/>
            <a:ext cx="26517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34272" y="2331720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34272" y="2587752"/>
            <a:ext cx="2651760" cy="457200"/>
          </a:xfrm>
          <a:prstGeom prst="rect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0303" y="23865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localStorage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3" y="264261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Calibri"/>
              </a:rPr>
              <a:t>Browser cache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3" y="31729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caches Drive image URLs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0303" y="36301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instant library reload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3" y="40873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not the source of truth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3" y="4544568"/>
            <a:ext cx="2240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· re-syncs from Drive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989320"/>
            <a:ext cx="108813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608990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75A"/>
                </a:solidFill>
                <a:latin typeface="Calibri"/>
              </a:rPr>
              <a:t>No n8n · No Airtable — Supabase is the single database for both reference prompts and favorites.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08792" y="5943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>
                <a:solidFill>
                  <a:srgbClr val="C9CEE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CAPABILITIES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B2A33"/>
                </a:solidFill>
                <a:latin typeface="Calibri"/>
              </a:rPr>
              <a:t>What it does, and the rules it holds 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60350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77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75A"/>
                </a:solidFill>
                <a:latin typeface="Calibri"/>
              </a:rPr>
              <a:t>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4320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A33"/>
                </a:solidFill>
                <a:latin typeface="Calibri"/>
              </a:rPr>
              <a:t>Generate on-brand prompts for 9 casino brands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638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75A"/>
                </a:solidFill>
                <a:latin typeface="Calibri"/>
              </a:rPr>
              <a:t>F2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63824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A33"/>
                </a:solidFill>
                <a:latin typeface="Calibri"/>
              </a:rPr>
              <a:t>Load reference recipes live from Supabase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844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75A"/>
                </a:solidFill>
                <a:latin typeface="Calibri"/>
              </a:rPr>
              <a:t>F3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84448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A33"/>
                </a:solidFill>
                <a:latin typeface="Calibri"/>
              </a:rPr>
              <a:t>AI Assistant: concepts → generate → refine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00507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75A"/>
                </a:solidFill>
                <a:latin typeface="Calibri"/>
              </a:rPr>
              <a:t>F4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05072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A33"/>
                </a:solidFill>
                <a:latin typeface="Calibri"/>
              </a:rPr>
              <a:t>Blend multiple references into a new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256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75A"/>
                </a:solidFill>
                <a:latin typeface="Calibri"/>
              </a:rPr>
              <a:t>F5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25696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A33"/>
                </a:solidFill>
                <a:latin typeface="Calibri"/>
              </a:rPr>
              <a:t>5-step Sports Banner wizard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8463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75A"/>
                </a:solidFill>
                <a:latin typeface="Calibri"/>
              </a:rPr>
              <a:t>F6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84632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A33"/>
                </a:solidFill>
                <a:latin typeface="Calibri"/>
              </a:rPr>
              <a:t>Generate images via ChatGPT or 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2669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75A"/>
                </a:solidFill>
                <a:latin typeface="Calibri"/>
              </a:rPr>
              <a:t>F7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266944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A33"/>
                </a:solidFill>
                <a:latin typeface="Calibri"/>
              </a:rPr>
              <a:t>Variations, image editing &amp; wide-banner extend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6875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75A"/>
                </a:solidFill>
                <a:latin typeface="Calibri"/>
              </a:rPr>
              <a:t>F8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687568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A33"/>
                </a:solidFill>
                <a:latin typeface="Calibri"/>
              </a:rPr>
              <a:t>Favorites, image library &amp; email content checker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2148840"/>
            <a:ext cx="464515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23774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GROUND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7432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7D32"/>
                </a:solidFill>
                <a:latin typeface="Calibri"/>
              </a:rPr>
              <a:t>N1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743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3"/>
                </a:solidFill>
                <a:latin typeface="Calibri"/>
              </a:rPr>
              <a:t>Reference data always comes from Supabase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2324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7D32"/>
                </a:solidFill>
                <a:latin typeface="Calibri"/>
              </a:rPr>
              <a:t>N2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23240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3"/>
                </a:solidFill>
                <a:latin typeface="Calibri"/>
              </a:rPr>
              <a:t>No hardcoded prompts anywhere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7216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7D32"/>
                </a:solidFill>
                <a:latin typeface="Calibri"/>
              </a:rPr>
              <a:t>N3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72160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3"/>
                </a:solidFill>
                <a:latin typeface="Calibri"/>
              </a:rPr>
              <a:t>No n8n and no Airtable in the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21081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7D32"/>
                </a:solidFill>
                <a:latin typeface="Calibri"/>
              </a:rPr>
              <a:t>N4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21081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3"/>
                </a:solidFill>
                <a:latin typeface="Calibri"/>
              </a:rPr>
              <a:t>Images → Google Drive; favorites → Supabase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7000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7D32"/>
                </a:solidFill>
                <a:latin typeface="Calibri"/>
              </a:rPr>
              <a:t>N5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70001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3"/>
                </a:solidFill>
                <a:latin typeface="Calibri"/>
              </a:rPr>
              <a:t>API keys stay server-side in Vercel routes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1892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7D32"/>
                </a:solidFill>
                <a:latin typeface="Calibri"/>
              </a:rPr>
              <a:t>N6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1892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3"/>
                </a:solidFill>
                <a:latin typeface="Calibri"/>
              </a:rPr>
              <a:t>Match the reference literally — don't re-invent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6784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7D32"/>
                </a:solidFill>
                <a:latin typeface="Calibri"/>
              </a:rPr>
              <a:t>N7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67842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3"/>
                </a:solidFill>
                <a:latin typeface="Calibri"/>
              </a:rPr>
              <a:t>Never break a feature that already works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08792" y="5943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>
                <a:solidFill>
                  <a:srgbClr val="C9CEE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B2A33"/>
                </a:solidFill>
                <a:latin typeface="Calibri"/>
              </a:rPr>
              <a:t>What it runs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45720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957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FRONTEND &amp; HOSTING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34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A33"/>
                </a:solidFill>
                <a:latin typeface="Calibri"/>
              </a:rPr>
              <a:t>React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272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Single-page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6758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A33"/>
                </a:solidFill>
                <a:latin typeface="Calibri"/>
              </a:rPr>
              <a:t>Tailwind + shadcn/ui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96849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Component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171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A33"/>
                </a:solidFill>
                <a:latin typeface="Calibri"/>
              </a:rPr>
              <a:t>Vercel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80974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Hosting + API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3583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A33"/>
                </a:solidFill>
                <a:latin typeface="Calibri"/>
              </a:rPr>
              <a:t>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65099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37A"/>
                </a:solidFill>
                <a:latin typeface="Calibri"/>
              </a:rPr>
              <a:t>Typed end to 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2148840"/>
            <a:ext cx="610819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3957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SERVICES &amp;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7614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75A"/>
                </a:solidFill>
                <a:latin typeface="Calibri"/>
              </a:rPr>
              <a:t>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76148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3"/>
                </a:solidFill>
                <a:latin typeface="Calibri"/>
              </a:rPr>
              <a:t>Prompt generation (GPT) + images (gpt-image-1)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4381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75A"/>
                </a:solidFill>
                <a:latin typeface="Calibri"/>
              </a:rPr>
              <a:t>Gemini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438144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3"/>
                </a:solidFill>
                <a:latin typeface="Calibri"/>
              </a:rPr>
              <a:t>Image generation, preferred for wide banners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114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75A"/>
                </a:solidFill>
                <a:latin typeface="Calibri"/>
              </a:rPr>
              <a:t>GCP Cloud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1148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3"/>
                </a:solidFill>
                <a:latin typeface="Calibri"/>
              </a:rPr>
              <a:t>Image editing + saving to Google Drive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79145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75A"/>
                </a:solidFill>
                <a:latin typeface="Calibri"/>
              </a:rPr>
              <a:t>Supabase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791456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3"/>
                </a:solidFill>
                <a:latin typeface="Calibri"/>
              </a:rPr>
              <a:t>Reference prompts + liked_images favorites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546811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75A"/>
                </a:solidFill>
                <a:latin typeface="Calibri"/>
              </a:rPr>
              <a:t>Google Drive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546811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3"/>
                </a:solidFill>
                <a:latin typeface="Calibri"/>
              </a:rPr>
              <a:t>Generated image storage (+ localStorage cache)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08792" y="5943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>
                <a:solidFill>
                  <a:srgbClr val="C9CEE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175A"/>
                </a:solidFill>
                <a:latin typeface="Calibri"/>
              </a:rPr>
              <a:t>GOOD TO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1B2A33"/>
                </a:solidFill>
                <a:latin typeface="Calibri"/>
              </a:rPr>
              <a:t>Behaviors by design, and how to run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395727"/>
            <a:ext cx="146304" cy="146304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33172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1B2A33"/>
                </a:solidFill>
                <a:latin typeface="Calibri"/>
              </a:rPr>
              <a:t>Wide 2:1 banners mirror-extend the real scene into the gaps — this is intentional, not a bug.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264408"/>
            <a:ext cx="146304" cy="146304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20040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1B2A33"/>
                </a:solidFill>
                <a:latin typeface="Calibri"/>
              </a:rPr>
              <a:t>Local `npm run dev` serves the UI only; AI/API features run on Vercel deploys.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133088"/>
            <a:ext cx="146304" cy="146304"/>
          </a:xfrm>
          <a:prstGeom prst="rect">
            <a:avLst/>
          </a:prstGeom>
          <a:solidFill>
            <a:srgbClr val="161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06908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1B2A33"/>
                </a:solidFill>
                <a:latin typeface="Calibri"/>
              </a:rPr>
              <a:t>Favorites (liked_images) and generated images are stored separately, on purpose.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194560"/>
            <a:ext cx="4187952" cy="4069080"/>
          </a:xfrm>
          <a:prstGeom prst="roundRect">
            <a:avLst>
              <a:gd name="adj" fmla="val 6000"/>
            </a:avLst>
          </a:prstGeom>
          <a:solidFill>
            <a:srgbClr val="1B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487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DD6FF"/>
                </a:solidFill>
                <a:latin typeface="Calibri"/>
              </a:rPr>
              <a:t>GET STARTED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971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8C6C6"/>
                </a:solidFill>
                <a:latin typeface="Calibri"/>
              </a:rPr>
              <a:t>Install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2095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Calibri"/>
              </a:rPr>
              <a:t>npm 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630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8C6C6"/>
                </a:solidFill>
                <a:latin typeface="Calibri"/>
              </a:rPr>
              <a:t>Run locally (UI)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86791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Calibri"/>
              </a:rPr>
              <a:t>npm run 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2885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8C6C6"/>
                </a:solidFill>
                <a:latin typeface="Calibri"/>
              </a:rPr>
              <a:t>Type-check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52627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Calibri"/>
              </a:rPr>
              <a:t>npx tsc --noEmit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946903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8C6C6"/>
                </a:solidFill>
                <a:latin typeface="Calibri"/>
              </a:rPr>
              <a:t>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518464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Calibri"/>
              </a:rPr>
              <a:t>git push → Vercel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669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8C6C6"/>
                </a:solidFill>
                <a:latin typeface="Calibri"/>
              </a:rPr>
              <a:t>Frontend + API on Vercel · data in Supabase · images in 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910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93A8"/>
                </a:solidFill>
                <a:latin typeface="Calibri"/>
              </a:rPr>
              <a:t>Multi-Brand Prompt Generator  ·  On-brand AI image prompts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5943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>
                <a:solidFill>
                  <a:srgbClr val="C9CEE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